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4a9319f97c4136" /><Relationship Type="http://schemas.openxmlformats.org/officeDocument/2006/relationships/extended-properties" Target="/docProps/app.xml" Id="R9906a46d0b3f4636" /><Relationship Type="http://schemas.openxmlformats.org/officeDocument/2006/relationships/officeDocument" Target="/ppt/presentation.xml" Id="R84a3b1e258e447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d7b89dbca849c4"/>
  </p:sldMasterIdLst>
  <p:notesMasterIdLst>
    <p:notesMasterId xmlns:r="http://schemas.openxmlformats.org/officeDocument/2006/relationships" r:id="Rc6a1df3866914967"/>
  </p:notesMasterIdLst>
  <p:sldIdLst>
    <p:sldId xmlns:r="http://schemas.openxmlformats.org/officeDocument/2006/relationships" id="256" r:id="R16c28b5e30ba408d"/>
    <p:sldId xmlns:r="http://schemas.openxmlformats.org/officeDocument/2006/relationships" id="257" r:id="R756606950116423c"/>
    <p:sldId xmlns:r="http://schemas.openxmlformats.org/officeDocument/2006/relationships" id="258" r:id="R33d72c44187041da"/>
    <p:sldId xmlns:r="http://schemas.openxmlformats.org/officeDocument/2006/relationships" id="259" r:id="R69853e5274d04d09"/>
    <p:sldId xmlns:r="http://schemas.openxmlformats.org/officeDocument/2006/relationships" id="260" r:id="R3e591ab89c8946e4"/>
    <p:sldId xmlns:r="http://schemas.openxmlformats.org/officeDocument/2006/relationships" id="261" r:id="R5fe277e9231946c1"/>
    <p:sldId xmlns:r="http://schemas.openxmlformats.org/officeDocument/2006/relationships" id="262" r:id="R00362be8bee44806"/>
    <p:sldId xmlns:r="http://schemas.openxmlformats.org/officeDocument/2006/relationships" id="263" r:id="Rff5d3c20bfa740c0"/>
    <p:sldId xmlns:r="http://schemas.openxmlformats.org/officeDocument/2006/relationships" id="264" r:id="R3a1a54a944da4194"/>
    <p:sldId xmlns:r="http://schemas.openxmlformats.org/officeDocument/2006/relationships" id="265" r:id="R96495237a49940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ae76a50f8c437a" /><Relationship Type="http://schemas.openxmlformats.org/officeDocument/2006/relationships/slideMaster" Target="/ppt/slideMasters/slideMaster1.xml" Id="R56d7b89dbca849c4" /><Relationship Type="http://schemas.openxmlformats.org/officeDocument/2006/relationships/notesMaster" Target="/ppt/notesMasters/notesMaster1.xml" Id="Rc6a1df3866914967" /><Relationship Type="http://schemas.openxmlformats.org/officeDocument/2006/relationships/presProps" Target="/ppt/presProps.xml" Id="Rbc2d2b4b1b88423b" /><Relationship Type="http://schemas.openxmlformats.org/officeDocument/2006/relationships/tableStyles" Target="/ppt/tableStyles.xml" Id="R06c549ad17074f2b" /><Relationship Type="http://schemas.openxmlformats.org/officeDocument/2006/relationships/slide" Target="/ppt/slides/slide1.xml" Id="R16c28b5e30ba408d" /><Relationship Type="http://schemas.openxmlformats.org/officeDocument/2006/relationships/slide" Target="/ppt/slides/slide2.xml" Id="R756606950116423c" /><Relationship Type="http://schemas.openxmlformats.org/officeDocument/2006/relationships/slide" Target="/ppt/slides/slide3.xml" Id="R33d72c44187041da" /><Relationship Type="http://schemas.openxmlformats.org/officeDocument/2006/relationships/slide" Target="/ppt/slides/slide4.xml" Id="R69853e5274d04d09" /><Relationship Type="http://schemas.openxmlformats.org/officeDocument/2006/relationships/slide" Target="/ppt/slides/slide5.xml" Id="R3e591ab89c8946e4" /><Relationship Type="http://schemas.openxmlformats.org/officeDocument/2006/relationships/slide" Target="/ppt/slides/slide6.xml" Id="R5fe277e9231946c1" /><Relationship Type="http://schemas.openxmlformats.org/officeDocument/2006/relationships/slide" Target="/ppt/slides/slide7.xml" Id="R00362be8bee44806" /><Relationship Type="http://schemas.openxmlformats.org/officeDocument/2006/relationships/slide" Target="/ppt/slides/slide8.xml" Id="Rff5d3c20bfa740c0" /><Relationship Type="http://schemas.openxmlformats.org/officeDocument/2006/relationships/slide" Target="/ppt/slides/slide9.xml" Id="R3a1a54a944da4194" /><Relationship Type="http://schemas.openxmlformats.org/officeDocument/2006/relationships/slide" Target="/ppt/slides/slide10.xml" Id="R96495237a49940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6262657bc946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cd0a641f1442e0" /><Relationship Type="http://schemas.openxmlformats.org/officeDocument/2006/relationships/notesMaster" Target="/ppt/notesMasters/notesMaster1.xml" Id="Rc39537cc819f44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9da8e00fdb4662" /><Relationship Type="http://schemas.openxmlformats.org/officeDocument/2006/relationships/notesMaster" Target="/ppt/notesMasters/notesMaster1.xml" Id="R9d8f38fa29f040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74b42579ed41fc" /><Relationship Type="http://schemas.openxmlformats.org/officeDocument/2006/relationships/notesMaster" Target="/ppt/notesMasters/notesMaster1.xml" Id="R955a03e7176a46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8560e48d0e4034" /><Relationship Type="http://schemas.openxmlformats.org/officeDocument/2006/relationships/notesMaster" Target="/ppt/notesMasters/notesMaster1.xml" Id="R374f6981a18e4a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fc9a5c811d4184" /><Relationship Type="http://schemas.openxmlformats.org/officeDocument/2006/relationships/notesMaster" Target="/ppt/notesMasters/notesMaster1.xml" Id="R1ba5cc26d86947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f348ba0ec84c8b" /><Relationship Type="http://schemas.openxmlformats.org/officeDocument/2006/relationships/notesMaster" Target="/ppt/notesMasters/notesMaster1.xml" Id="R6cc68e15fa2947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1be36175fe4ffa" /><Relationship Type="http://schemas.openxmlformats.org/officeDocument/2006/relationships/notesMaster" Target="/ppt/notesMasters/notesMaster1.xml" Id="R6a37f6fcb8d34c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a80add7ba84ebd" /><Relationship Type="http://schemas.openxmlformats.org/officeDocument/2006/relationships/notesMaster" Target="/ppt/notesMasters/notesMaster1.xml" Id="R50e1c0d5767d43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6e944d6d3f4265" /><Relationship Type="http://schemas.openxmlformats.org/officeDocument/2006/relationships/notesMaster" Target="/ppt/notesMasters/notesMaster1.xml" Id="Ra8baf72f37fd45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2d3d8716c344a9" /><Relationship Type="http://schemas.openxmlformats.org/officeDocument/2006/relationships/notesMaster" Target="/ppt/notesMasters/notesMaster1.xml" Id="Ra247f7c899ff43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：我用UCI公开的真实历史信用卡客户数据完成了一个离线风险分层学习项目。重点不是追求复杂模型，而是把业务口径、SQL特征、交叉验证和策略权衡讲清楚。这份代码由AI辅助搭建，我在正式展示时只陈述自己实际独立复写和复核的内容。来源：Yeh, I. (2009). Default of Credit Card Clients [Dataset]. UCI Machine Learning Repository. https://doi.org/10.24432/C55S3H，CC BY 4.0。项目代码real_project/run_real.py与reports/results.json。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35秒：一行一个客户ID。PAY_0对应9月状态，PAY_2至PAY_6对应8月至4月。正数描述延迟月数等级，不能说成逾期天数。LIMIT_BAL是额度，不是实际借款。目标是源次月标签，不能擅自重命名FPD7。原表的ID、性别年龄等人口属性不纳入模型，ID只用于连接和切分。来源：Yeh, I. (2009). Default of Credit Card Clients [Dataset]. UCI Machine Learning Repository. https://doi.org/10.24432/C55S3H，CC BY 4.0。项目代码real_project/run_real.py与reports/results.json。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35秒：源文件记录哈希，输入变动就报错。正额度和二元标签通过核验。负账单不能直接删掉，可能有冲抵等业务含义，但本数据没有补充解释。还款状态-2与0不强行当连续风险数值，最新状态用类别编码；统计延期月份只数正状态。SQL从长表聚合，pandas从原宽表横向计算，全部特征对账，避免仅把同一代码跑两次当独立验证。来源：Yeh, I. (2009). Default of Credit Card Clients [Dataset]. UCI Machine Learning Repository. https://doi.org/10.24432/C55S3H，CC BY 4.0。项目代码real_project/run_real.py与reports/results.json。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40秒：同样一次最新异常，有的人过去一直稳定，有的人连续多月恶化，半年特征为模型补充这些信息。所有特征来自标签之前已记录的半年列，不使用标签。账单/额度只是压力代理，不能当精确实时使用率。支付趋势也可能受消费变化影响，不等于还款能力因果变化。候选同时调整正则，所以提升不完全归因于特征，后续需控制C的消融。来源：Yeh, I. (2009). Default of Credit Card Clients [Dataset]. UCI Machine Learning Repository. https://doi.org/10.24432/C55S3H，CC BY 4.0。项目代码real_project/run_real.py与reports/results.json。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40秒：客户表30000行、历史表180000行，每人每月一条。CASE给每月延期打1或0，SUM才表示半年延期月数。直接把额度接到月表后求和会放大6倍，所以先聚合到客户粒度。MAX只取正状态严重度；非正状态统一0仅用于这个特征，并没有改原值。pandas等价是六个状态列gt(0).sum(axis=1)。真实SQL还有近期窗口和趋势计算，见feature.sql。来源：Yeh, I. (2009). Default of Credit Card Clients [Dataset]. UCI Machine Learning Repository. https://doi.org/10.24432/C55S3H，CC BY 4.0。项目代码real_project/run_real.py与reports/results.json。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40秒：分层随机拆分保留各组标签比例，种子固定。基准C为1，候选只在验证集从0.01、0.1、1选，选中0.01。C越小正则越强。验证集分数80%分位作为阈值，固定到测试，相等分数全标，因此测试覆盖量未必20%。测试标签不参与阈值和C选择。只有单一时间队列，不能伪造OOT。来源：Yeh, I. (2009). Default of Credit Card Clients [Dataset]. UCI Machine Learning Repository. https://doi.org/10.24432/C55S3H，CC BY 4.0。项目代码real_project/run_real.py与reports/results.json。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40秒：AUC反映坏客户排在好客户前面的能力，不能代替实际收益。基准0.7333，候选0.7585。精准率52.73%到56.35%，召回47.25%到48.83%，但覆盖19.82%到19.17%，不是严格相同审核量。配对bootstrap300次区间只表示固定预测在当前测试样本上的不确定性，不涵盖重训、调参和业务迁移。来源：Yeh, I. (2009). Default of Credit Card Clients [Dataset]. UCI Machine Learning Repository. https://doi.org/10.24432/C55S3H，CC BY 4.0。项目代码real_project/run_real.py与reports/results.json。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40秒：候选少标39人，却多命中21个坏标签、少误标60个好标签，这说明这批样本中的队列效率改善。仍不能说节省了实际损失，因为不知道干预是否成功、成本多少、误伤如何影响客户。实际策略要加收益成本、额度和合规限制，还要新数据验证同容量比较。TP+FN=1327，FP+TN=4673，四格合计6000，分子分母可现场核对。来源：Yeh, I. (2009). Default of Credit Card Clients [Dataset]. UCI Machine Learning Repository. https://doi.org/10.24432/C55S3H，CC BY 4.0。项目代码real_project/run_real.py与reports/results.json。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35秒：数据是2005年台湾已有账户，不能代表目前的快手申请人。没有拒绝样本或新授信实验，所以不能声称提高通过率；没有损失回收，不能算真实净利润；不包含线上部署。模型没用性别年龄等也不证明公平。后续不是继续调当前测试集，而是明确新验证计划、补足数据和业务目标。来源：Yeh, I. (2009). Default of Credit Card Clients [Dataset]. UCI Machine Learning Repository. https://doi.org/10.24432/C55S3H，CC BY 4.0。项目代码real_project/run_real.py与reports/results.json。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35秒：正式面试应根据实际学习进度修改个人贡献。不说自己完成了未经验证的业务上线或真实降损。可以诚实说通过AI辅助建立复现流程，然后自己独立复写关键查询、核对口径、解释模型与业务限制。与原A股研究可迁移的是时点对齐、样本划分、成本意识与复核习惯，不是把资产定价工作冒充信贷实习。配套docs/05_REAL_PROJECT_WALKTHROUGH.md有逐步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d41d2089a4c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a45e087234c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683f7e93140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c0fbacafe47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ed6d21383b42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47dc92b3445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0E4301-2F36-4089-BF24-D1536C0CED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453CAD7-17E4-40AB-A427-E9F718EED1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A73A4F-D9E8-4703-AD80-233E4AE47C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58F6E-94AF-412C-B440-080C9A0EF7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E412FD-52B0-4F7D-86F1-6A9C77E0F8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DAF080-358C-4E77-93FD-D83F478AD9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4D8B46-EE40-4A53-B029-C9A742112C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5D4EC4-A7CA-4347-9F9F-35BADB9323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E9E89D-E9EE-4892-9559-573AFD6F40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50F195-0C7A-4C15-B216-B77E78CF1F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cfdcb66d0a40e9" /><Relationship Type="http://schemas.openxmlformats.org/officeDocument/2006/relationships/slideLayout" Target="/ppt/slideLayouts/slideLayout1.xml" Id="R4def3852e44b4eff" /><Relationship Type="http://schemas.openxmlformats.org/officeDocument/2006/relationships/slideLayout" Target="/ppt/slideLayouts/slideLayout2.xml" Id="Rea4875bf4dd94a93" /><Relationship Type="http://schemas.openxmlformats.org/officeDocument/2006/relationships/slideLayout" Target="/ppt/slideLayouts/slideLayout3.xml" Id="R002c92ba5f5243af" /><Relationship Type="http://schemas.openxmlformats.org/officeDocument/2006/relationships/slideLayout" Target="/ppt/slideLayouts/slideLayout4.xml" Id="R62258fd1adc64f18" /><Relationship Type="http://schemas.openxmlformats.org/officeDocument/2006/relationships/slideLayout" Target="/ppt/slideLayouts/slideLayout5.xml" Id="Raa3060c80c7945c5" /><Relationship Type="http://schemas.openxmlformats.org/officeDocument/2006/relationships/slideLayout" Target="/ppt/slideLayouts/slideLayout6.xml" Id="Raf28e1cb470846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ef3852e44b4eff"/>
    <p:sldLayoutId xmlns:r="http://schemas.openxmlformats.org/officeDocument/2006/relationships" id="2147483650" r:id="Rea4875bf4dd94a93"/>
    <p:sldLayoutId xmlns:r="http://schemas.openxmlformats.org/officeDocument/2006/relationships" id="2147483651" r:id="R002c92ba5f5243af"/>
    <p:sldLayoutId xmlns:r="http://schemas.openxmlformats.org/officeDocument/2006/relationships" id="2147483652" r:id="R62258fd1adc64f18"/>
    <p:sldLayoutId xmlns:r="http://schemas.openxmlformats.org/officeDocument/2006/relationships" id="2147483653" r:id="Raa3060c80c7945c5"/>
    <p:sldLayoutId xmlns:r="http://schemas.openxmlformats.org/officeDocument/2006/relationships" id="2147483654" r:id="Raf28e1cb470846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95077772db4c60" /><Relationship Type="http://schemas.openxmlformats.org/officeDocument/2006/relationships/notesSlide" Target="/ppt/notesSlides/notesSlide1.xml" Id="Rc81de830a78044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ea11831e74293" /><Relationship Type="http://schemas.openxmlformats.org/officeDocument/2006/relationships/notesSlide" Target="/ppt/notesSlides/notesSlide2.xml" Id="R20e2b6943b174e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9659fb593a42ed" /><Relationship Type="http://schemas.openxmlformats.org/officeDocument/2006/relationships/notesSlide" Target="/ppt/notesSlides/notesSlide3.xml" Id="R2b75e6390c6a47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eedf865a1418e" /><Relationship Type="http://schemas.openxmlformats.org/officeDocument/2006/relationships/notesSlide" Target="/ppt/notesSlides/notesSlide4.xml" Id="R0689c3b074a945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6ecd1fb244763" /><Relationship Type="http://schemas.openxmlformats.org/officeDocument/2006/relationships/notesSlide" Target="/ppt/notesSlides/notesSlide5.xml" Id="Ra6498164b5864e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0c41a448b49c5" /><Relationship Type="http://schemas.openxmlformats.org/officeDocument/2006/relationships/notesSlide" Target="/ppt/notesSlides/notesSlide6.xml" Id="R063ebe4ed2344b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a9dc38f9a64bd4" /><Relationship Type="http://schemas.openxmlformats.org/officeDocument/2006/relationships/notesSlide" Target="/ppt/notesSlides/notesSlide7.xml" Id="R59753b24c5924a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65a4907ce4aaa" /><Relationship Type="http://schemas.openxmlformats.org/officeDocument/2006/relationships/notesSlide" Target="/ppt/notesSlides/notesSlide8.xml" Id="R1c3847b876754c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71f6ac32946a6" /><Relationship Type="http://schemas.openxmlformats.org/officeDocument/2006/relationships/notesSlide" Target="/ppt/notesSlides/notesSlide9.xml" Id="Rde148cbb73a848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0072546eb4493" /><Relationship Type="http://schemas.openxmlformats.org/officeDocument/2006/relationships/notesSlide" Target="/ppt/notesSlides/notesSlide10.xml" Id="R384159bf514646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E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2A16D-AA4B-4494-957C-365FC4BA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信用卡客户风险分层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86BE0-DC5A-472D-ADF3-3AE8AFD5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C1E0C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C1E0CE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C1E0CE"/>
                </a:solidFill>
                <a:latin typeface="Noto Sans SC"/>
                <a:ea typeface="Noto Sans SC"/>
                <a:cs typeface="Noto Sans SC"/>
              </a:rPr>
              <a:t>真实数据上的基准复现与特征改进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637A3-1852-4E63-8522-17282C1C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8F0E8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8F0E8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E8F0E8"/>
                </a:solidFill>
                <a:latin typeface="Noto Sans SC"/>
                <a:ea typeface="Noto Sans SC"/>
                <a:cs typeface="Noto Sans SC"/>
              </a:rPr>
              <a:t>30,000 个客户样本 / SQL 与 pandas / 逻辑回归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83D4-5B34-4DDC-8DB2-92FB5567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054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8F0E8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8F0E8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E8F0E8"/>
                </a:solidFill>
                <a:latin typeface="Noto Sans SC"/>
                <a:ea typeface="Noto Sans SC"/>
                <a:cs typeface="Noto Sans SC"/>
              </a:rPr>
              <a:t>信贷风控策略面试展示 / AI辅助学习项目</a:t>
            </a:r>
          </a:p>
        </p:txBody>
      </p:sp>
    </p:spTree>
    <p:extLst>
      <p:ext uri="{BB962C8B-B14F-4D97-AF65-F5344CB8AC3E}">
        <p14:creationId xmlns:p14="http://schemas.microsoft.com/office/powerpoint/2010/main" val="323724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8151E-F5B7-4349-B125-B92C9BC4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业务问题与数据来源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39A5E-7CC8-4447-BB4E-3249334C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144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识别已有账户的潜在风险，为模拟人工复核队列排序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03686-DACB-44A6-8389-9E2588E6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UCI 真实历史信用卡数据 / 离线学习项目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58E3B-3126-4C1F-B8BA-C483BA61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D5EBB-76A6-4BA8-9D4A-C70F5162823D}"/>
              </a:ext>
            </a:extLst>
          </p:cNvPr>
          <p:cNvGraphicFramePr/>
          <p:nvPr/>
        </p:nvGraphicFramePr>
        <p:xfrm>
          <a:off xmlns:a="http://schemas.openxmlformats.org/drawingml/2006/main" x="666750" y="2028825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667625"/>
              </a:tblGrid>
              <a:tr h="5635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数据要素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本项目定义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UCI 公开研究数据，台湾历史信用卡客户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规模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30,000 个客户ID，23 个源特征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历史窗口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2005 年4至9月，半年账单与支付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目标标签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源文件中的次月违约，1 为违约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金额单位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新台币，额度与账单分开解释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073F6-C475-425E-9BFC-5EA39575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054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rPr>
              <a:t>已有账户的历史样本，不能直接代表快手新客申请</a:t>
            </a:r>
          </a:p>
        </p:txBody>
      </p:sp>
    </p:spTree>
    <p:extLst>
      <p:ext uri="{BB962C8B-B14F-4D97-AF65-F5344CB8AC3E}">
        <p14:creationId xmlns:p14="http://schemas.microsoft.com/office/powerpoint/2010/main" val="1898307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8C066-9A92-459F-8D6D-E575DE9B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数据核验先于模型训练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55238-CBCA-45BF-B7AF-C5C129C3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144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30,000 行保留完整，不通过删除难解释记录美化结果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95EDD-9356-4EEB-B15B-9BBEEE0D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UCI 真实历史信用卡数据 / 离线学习项目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5C053-0387-45A3-890D-415BF02E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B0232-1458-4E64-8879-3ACDAAC68FC7}"/>
              </a:ext>
            </a:extLst>
          </p:cNvPr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191000"/>
                <a:gridCol w="361950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检查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实际结果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处理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ID与空值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ID唯一，无空单元格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核验后继续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负账单金额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3,932 个单元格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保留并记录口径限制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状态与分类编码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部分值未在简略字典完整解释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保留状态类别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SQL与pandas特征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两种计算路径逐列一致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断言不一致则停止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D1F31-4C6F-4558-8EEA-170BB5E0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rPr>
              <a:t>没有空值，不等于字段含义完整或样本没有偏差</a:t>
            </a:r>
          </a:p>
        </p:txBody>
      </p:sp>
    </p:spTree>
    <p:extLst>
      <p:ext uri="{BB962C8B-B14F-4D97-AF65-F5344CB8AC3E}">
        <p14:creationId xmlns:p14="http://schemas.microsoft.com/office/powerpoint/2010/main" val="8012857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94028-A2E5-4824-B331-631DDEE1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特征改进：增加半年频率与趋势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256AB-F9A3-4B82-9CC5-1A8B473C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144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基准只看额度、最新账单比例和最新还款状态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9B3AA-461B-4292-A806-B206CAEA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UCI 真实历史信用卡数据 / 离线学习项目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E0799-E0FD-4649-A65F-0C5C526E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4F2C4-664E-4185-B484-3A78D38071A5}"/>
              </a:ext>
            </a:extLst>
          </p:cNvPr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133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048250"/>
                <a:gridCol w="3714750"/>
              </a:tblGrid>
              <a:tr h="62674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维度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新增特征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想回答的问题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频率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近3月、近6月延迟月份数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偶发还是反复发生？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严重度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半年最大正向延迟状态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最严重到什么程度？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账单趋势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首尾账单差 / 额度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账单压力是否在上升？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支付变化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近3月与前3月支付差 / 额度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近期支付行为如何变化？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F57E4-A879-4807-9C6B-31EF919D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29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24765B"/>
                </a:solidFill>
                <a:latin typeface="Noto Sans SC"/>
                <a:ea typeface="Noto Sans SC"/>
                <a:cs typeface="Noto Sans SC"/>
              </a:rPr>
              <a:t>时间特征是否有用，最终由留出样本检验</a:t>
            </a:r>
          </a:p>
        </p:txBody>
      </p:sp>
    </p:spTree>
    <p:extLst>
      <p:ext uri="{BB962C8B-B14F-4D97-AF65-F5344CB8AC3E}">
        <p14:creationId xmlns:p14="http://schemas.microsoft.com/office/powerpoint/2010/main" val="1542812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4C33E-8499-40AF-9431-5DD55BEA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SQL 把月度记录还原成客户特征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E354F-C85F-4CB4-9A2A-C337720C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144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同源宽表拆成长表，只改变结构，没有生成新行为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91867-53BA-4342-A2F6-06B760CA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UCI 真实历史信用卡数据 / 离线学习项目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F3284-E78B-47CB-A873-1167B497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8F50D-F9E7-46DE-ACDC-F5BAE00D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6680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SELECT client_id,</a:t>
            </a:r>
          </a:p>
          <a:p xmlns:a="http://schemas.openxmlformats.org/drawingml/2006/main">
            <a:pPr>
              <a:def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  SUM(CASE WHEN pay_status &gt; 0</a:t>
            </a:r>
          </a:p>
          <a:p xmlns:a="http://schemas.openxmlformats.org/drawingml/2006/main">
            <a:pPr>
              <a:def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           THEN 1 ELSE 0 END) AS delay_months6,</a:t>
            </a:r>
          </a:p>
          <a:p xmlns:a="http://schemas.openxmlformats.org/drawingml/2006/main">
            <a:pPr>
              <a:def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  MAX(CASE WHEN pay_status &gt; 0</a:t>
            </a:r>
          </a:p>
          <a:p xmlns:a="http://schemas.openxmlformats.org/drawingml/2006/main">
            <a:pPr>
              <a:def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           THEN pay_status ELSE 0 END) AS worst_delay6</a:t>
            </a:r>
          </a:p>
          <a:p xmlns:a="http://schemas.openxmlformats.org/drawingml/2006/main">
            <a:pPr>
              <a:def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FROM monthly_history</a:t>
            </a:r>
          </a:p>
          <a:p xmlns:a="http://schemas.openxmlformats.org/drawingml/2006/main">
            <a:pPr>
              <a:def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GROUP BY client_id;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54D66-1027-4934-9D09-AB8B30FE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24765B"/>
                </a:solidFill>
                <a:latin typeface="Noto Sans SC"/>
                <a:ea typeface="Noto Sans SC"/>
                <a:cs typeface="Noto Sans SC"/>
              </a:rPr>
              <a:t>先聚合成每客户一行，再连接额度；标签单独存放</a:t>
            </a:r>
          </a:p>
        </p:txBody>
      </p:sp>
    </p:spTree>
    <p:extLst>
      <p:ext uri="{BB962C8B-B14F-4D97-AF65-F5344CB8AC3E}">
        <p14:creationId xmlns:p14="http://schemas.microsoft.com/office/powerpoint/2010/main" val="5748266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A23AD-35F3-469C-9D2A-3C20207D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训练、验证与测试各司其职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0EE15-7B24-44F3-8B71-78730038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144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随机客户留出测试，明确不称为时间外 OOT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67E56-A09B-497B-9317-9439872B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UCI 真实历史信用卡数据 / 离线学习项目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60592-DBED-45C6-ABBA-F247A9CF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358D9-7F34-4F12-BA7A-1585D6FC5CE6}"/>
              </a:ext>
            </a:extLst>
          </p:cNvPr>
          <p:cNvGraphicFramePr/>
          <p:nvPr/>
        </p:nvGraphicFramePr>
        <p:xfrm>
          <a:off xmlns:a="http://schemas.openxmlformats.org/drawingml/2006/main" x="666750" y="2124075"/>
          <a:ext xmlns:a="http://schemas.openxmlformats.org/drawingml/2006/main" cx="10858500" cy="2562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381250"/>
                <a:gridCol w="5429250"/>
              </a:tblGrid>
              <a:tr h="64055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数据部分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样本数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</a:tr>
              <a:tr h="6405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18,000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拟合预处理与逻辑回归系数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5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验证集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6,000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选择C与约20%复核量对应阈值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</a:tr>
              <a:tr h="6405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测试集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固定选择后，报告离线表现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409A0-2870-48CC-90C2-C87043CA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196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rPr>
              <a:t>标准化只在训练集拟合，三个客户ID集合不重叠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18CE3-01D7-46B1-BE83-9677722C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同一历史窗口无法证明跨时间稳定性，后续仍需新月份数据</a:t>
            </a:r>
          </a:p>
        </p:txBody>
      </p:sp>
    </p:spTree>
    <p:extLst>
      <p:ext uri="{BB962C8B-B14F-4D97-AF65-F5344CB8AC3E}">
        <p14:creationId xmlns:p14="http://schemas.microsoft.com/office/powerpoint/2010/main" val="1173036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34812-310F-49D5-BC76-AB8236F3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候选模型的留出样本区分效果改善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793A7-C8F5-4881-9B06-28B51109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144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同时报告排序质量、模拟覆盖量、精准率与召回率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B7DA8-F1B0-4F3B-839F-F3756886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UCI 真实历史信用卡数据 / 离线学习项目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C7C13-81EC-4D55-8E1F-49E73DC5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B2308-EFDE-46D3-AB14-284AE6307C94}"/>
              </a:ext>
            </a:extLst>
          </p:cNvPr>
          <p:cNvGraphicFramePr/>
          <p:nvPr/>
        </p:nvGraphicFramePr>
        <p:xfrm>
          <a:off xmlns:a="http://schemas.openxmlformats.org/drawingml/2006/main" x="666750" y="2028825"/>
          <a:ext xmlns:a="http://schemas.openxmlformats.org/drawingml/2006/main" cx="108585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381375"/>
                <a:gridCol w="3381375"/>
              </a:tblGrid>
              <a:tr h="54768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测试指标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最近一期基准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半年特征候选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AUC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0.7333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0.7585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KS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0.3645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0.3934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标记覆盖率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19.82%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19.17%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精准率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52.73%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56.35%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召回率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47.25%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48.83%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D65DE-6168-45FA-AE2A-2F4257E6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rPr>
              <a:t>AUC 差异约 0.025；测试客户重抽样区间约 [0.015, 0.036]</a:t>
            </a:r>
          </a:p>
        </p:txBody>
      </p:sp>
    </p:spTree>
    <p:extLst>
      <p:ext uri="{BB962C8B-B14F-4D97-AF65-F5344CB8AC3E}">
        <p14:creationId xmlns:p14="http://schemas.microsoft.com/office/powerpoint/2010/main" val="548691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B93D7-F504-41E8-A943-FE6F0C1A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把比例还原为人数，才能解释业务取舍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A4762-E4DE-46DD-ABA6-ADF7D3AB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144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测试集 6,000 人，其中 1,327 人有次月违约标签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D2BB5-1047-4736-8319-4D1237FA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UCI 真实历史信用卡数据 / 离线学习项目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DC72F-BB4E-439A-B149-E5BE72D3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BBC4E-8830-4573-8B2E-AC87D28FDAC5}"/>
              </a:ext>
            </a:extLst>
          </p:cNvPr>
          <p:cNvGraphicFramePr/>
          <p:nvPr/>
        </p:nvGraphicFramePr>
        <p:xfrm>
          <a:off xmlns:a="http://schemas.openxmlformats.org/drawingml/2006/main" x="666750" y="2019300"/>
          <a:ext xmlns:a="http://schemas.openxmlformats.org/drawingml/2006/main" cx="108585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2905125"/>
                <a:gridCol w="2905125"/>
              </a:tblGrid>
              <a:tr h="5445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实际结果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基准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候选</a:t>
                      </a:r>
                    </a:p>
                  </a:txBody>
                  <a:tcPr marL="91440" marR="91440" marT="45720" marB="45720">
                    <a:solidFill>
                      <a:srgbClr val="173E32"/>
                    </a:solidFill>
                  </a:tcPr>
                </a:tc>
              </a:tr>
              <a:tr h="5445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进入模拟复核队列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1,189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1,150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5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命中违约标签 TP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627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648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</a:tr>
              <a:tr h="5445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误标非违约 FP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5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漏标违约 FN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700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679</a:t>
                      </a:r>
                    </a:p>
                  </a:txBody>
                  <a:tcPr marL="91440" marR="91440" marT="45720" marB="45720">
                    <a:solidFill>
                      <a:srgbClr val="EBF0E8"/>
                    </a:solidFill>
                  </a:tcPr>
                </a:tc>
              </a:tr>
              <a:tr h="5445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正确未标记 TN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4,111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E32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4,171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4B07E-9C82-4579-B850-28A4C5C1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292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rPr>
              <a:t>这些是离线标记结果，未实施干预，不等于实际减少违约</a:t>
            </a:r>
          </a:p>
        </p:txBody>
      </p:sp>
    </p:spTree>
    <p:extLst>
      <p:ext uri="{BB962C8B-B14F-4D97-AF65-F5344CB8AC3E}">
        <p14:creationId xmlns:p14="http://schemas.microsoft.com/office/powerpoint/2010/main" val="11732329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92760-DD6E-4D79-B253-2D92F474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当前证据与下一步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460BF-C80D-404B-984B-65CA3BAC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144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真实数据增加可信来源，但不能替代业务适配与线上验证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6D483-6BE3-4A04-B589-6CC8AD65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UCI 真实历史信用卡数据 / 离线学习项目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A9D79-3369-450B-AAC4-70B85622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8DC56-3BC8-4DC3-AE52-A8C504E4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已经完成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31063-A59B-4798-983F-BCB83A94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527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真实源数据核验、特征交叉复算、基准对比、留出测试与队列分析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331E7-2C55-423A-8DD8-949A20C3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14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仍需补充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EBD54-82DD-43E3-8C32-8F4B6B1C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52950"/>
            <a:ext cx="10572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新月份和目标客群，校准与公平性检查，收入、回收和审核成本</a:t>
            </a:r>
          </a:p>
          <a:p xmlns:a="http://schemas.openxmlformats.org/drawingml/2006/main">
            <a:pPr>
              <a:defRPr sz="21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明确风险红线后，再考虑小流量对照与回滚机制</a:t>
            </a:r>
          </a:p>
        </p:txBody>
      </p:sp>
    </p:spTree>
    <p:extLst>
      <p:ext uri="{BB962C8B-B14F-4D97-AF65-F5344CB8AC3E}">
        <p14:creationId xmlns:p14="http://schemas.microsoft.com/office/powerpoint/2010/main" val="9963046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87A42-8547-477F-9A8E-93674C6C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面试讲述：把可验证的工作说清楚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07673-BD9D-48BC-BF54-E4AC2DA8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144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数据来自公开研究，代码由AI辅助，掌握程度以独立复写为准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63BBC-5123-4653-9F05-1724BE31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UCI 真实历史信用卡数据 / 离线学习项目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10DB8-CE14-4736-94F0-EB8601E7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6685E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0015F-D255-4CB1-BD4B-267A9121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我的讲述重点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A9C8D-CE0C-49E8-B487-470D3103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24175"/>
            <a:ext cx="10572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为什么选这些特征？</a:t>
            </a:r>
          </a:p>
          <a:p xmlns:a="http://schemas.openxmlformats.org/drawingml/2006/main">
            <a:pPr>
              <a:defRPr sz="2325" b="0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SQL 与 pandas 为什么得到同一结果？</a:t>
            </a:r>
          </a:p>
          <a:p xmlns:a="http://schemas.openxmlformats.org/drawingml/2006/main">
            <a:pPr>
              <a:defRPr sz="2325" b="0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测试集为什么不能参与阈值选择？</a:t>
            </a:r>
          </a:p>
          <a:p xmlns:a="http://schemas.openxmlformats.org/drawingml/2006/main">
            <a:pPr>
              <a:defRPr sz="2325" b="0">
                <a:solidFill>
                  <a:srgbClr val="173E32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173E32"/>
                </a:solidFill>
                <a:latin typeface="Noto Sans SC"/>
                <a:ea typeface="Noto Sans SC"/>
                <a:cs typeface="Noto Sans SC"/>
              </a:rPr>
              <a:t>看到改善后，为什么仍不能直接上线？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9F399-EF3B-43C2-A77C-94558805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292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4765B"/>
                </a:solidFill>
                <a:latin typeface="Noto Sans SC"/>
                <a:ea typeface="Noto Sans SC"/>
                <a:cs typeface="Noto Sans SC"/>
              </a:rPr>
              <a:t>展示前独立完成：一条特征SQL、一组pandas复算、一次指标手算</a:t>
            </a:r>
          </a:p>
        </p:txBody>
      </p:sp>
    </p:spTree>
    <p:extLst>
      <p:ext uri="{BB962C8B-B14F-4D97-AF65-F5344CB8AC3E}">
        <p14:creationId xmlns:p14="http://schemas.microsoft.com/office/powerpoint/2010/main" val="1053204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2026-10-11T09:55:27.5350000Z</dcterms:created>
  <dcterms:modified xsi:type="dcterms:W3CDTF">2026-10-11T09:55:27.5350000Z</dcterms:modified>
</coreProperties>
</file>